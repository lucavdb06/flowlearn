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embeddedFontLst>
    <p:embeddedFont>
      <p:font typeface="Fraunces"/>
      <p:regular r:id="rId23"/>
      <p:bold r:id="rId24"/>
    </p:embeddedFont>
    <p:embeddedFont>
      <p:font typeface="Inter"/>
      <p:regular r:id="rId25"/>
      <p:bold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5809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2.png"/><Relationship Id="rId10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14.png"/><Relationship Id="rId9" Type="http://schemas.openxmlformats.org/officeDocument/2006/relationships/image" Target="../media/image5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10.png"/><Relationship Id="rId8" Type="http://schemas.openxmlformats.org/officeDocument/2006/relationships/image" Target="../media/image20.png"/><Relationship Id="rId9" Type="http://schemas.openxmlformats.org/officeDocument/2006/relationships/image" Target="../media/image11.png"/><Relationship Id="rId10" Type="http://schemas.openxmlformats.org/officeDocument/2006/relationships/image" Target="../media/image6.png"/><Relationship Id="rId11" Type="http://schemas.openxmlformats.org/officeDocument/2006/relationships/image" Target="../media/image16.png"/><Relationship Id="rId12" Type="http://schemas.openxmlformats.org/officeDocument/2006/relationships/image" Target="../media/image21.png"/><Relationship Id="rId1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Relationship Id="rId5" Type="http://schemas.openxmlformats.org/officeDocument/2006/relationships/image" Target="../media/image27.png"/><Relationship Id="rId6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16.png"/><Relationship Id="rId6" Type="http://schemas.openxmlformats.org/officeDocument/2006/relationships/image" Target="../media/image32.png"/><Relationship Id="rId7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3B82F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3657600"/>
            <a:ext cx="4754880" cy="475488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0" y="-2011680"/>
            <a:ext cx="4023360" cy="4023360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"/>
            <a:ext cx="86868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713232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FlowLearn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Apprendre en jouant.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95528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Cadrage &amp; gestion de projet — du constat au plan d'exécution d'un MVP EdTech à socle IA.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05840" y="4160520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88720" y="4160520"/>
            <a:ext cx="118872" cy="118872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417320" y="40507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T-ESP-800  ·  Soutenance de projet  ·  Mai 2026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4892040"/>
            <a:ext cx="1764792" cy="713232"/>
          </a:xfrm>
          <a:prstGeom prst="roundRect">
            <a:avLst>
              <a:gd name="adj" fmla="val 102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3816" y="4946904"/>
            <a:ext cx="1691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Luca Vanden-Brande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587752" y="4892040"/>
            <a:ext cx="1764792" cy="713232"/>
          </a:xfrm>
          <a:prstGeom prst="roundRect">
            <a:avLst>
              <a:gd name="adj" fmla="val 102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624328" y="4946904"/>
            <a:ext cx="1691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Nathan Plessis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98264" y="4892040"/>
            <a:ext cx="1764792" cy="713232"/>
          </a:xfrm>
          <a:prstGeom prst="roundRect">
            <a:avLst>
              <a:gd name="adj" fmla="val 102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434840" y="4946904"/>
            <a:ext cx="1691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Daniel Okpe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08776" y="4892040"/>
            <a:ext cx="1764792" cy="713232"/>
          </a:xfrm>
          <a:prstGeom prst="roundRect">
            <a:avLst>
              <a:gd name="adj" fmla="val 102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245352" y="4946904"/>
            <a:ext cx="1691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Maxime Ruault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19288" y="4892040"/>
            <a:ext cx="1764792" cy="713232"/>
          </a:xfrm>
          <a:prstGeom prst="roundRect">
            <a:avLst>
              <a:gd name="adj" fmla="val 102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55864" y="4946904"/>
            <a:ext cx="1691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César Lextraît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829800" y="4892040"/>
            <a:ext cx="1764792" cy="713232"/>
          </a:xfrm>
          <a:prstGeom prst="roundRect">
            <a:avLst>
              <a:gd name="adj" fmla="val 102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866376" y="4946904"/>
            <a:ext cx="1691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Quentin Dumas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7240" y="5806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membres  ·  2 pôles  ·  9 compétences cœur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9428C7-4110-120C-0F40-03462939D276}"/>
              </a:ext>
            </a:extLst>
          </p:cNvPr>
          <p:cNvSpPr txBox="1"/>
          <p:nvPr/>
        </p:nvSpPr>
        <p:spPr>
          <a:xfrm>
            <a:off x="11180618" y="241069"/>
            <a:ext cx="673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Luca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737360"/>
            <a:ext cx="4572000" cy="4572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3474720"/>
            <a:ext cx="4754880" cy="4754880"/>
          </a:xfrm>
          <a:prstGeom prst="ellipse">
            <a:avLst/>
          </a:prstGeom>
          <a:solidFill>
            <a:srgbClr val="3B82F6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943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640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FlowLearn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3B82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9600" dirty="0"/>
          </a:p>
        </p:txBody>
      </p:sp>
      <p:sp>
        <p:nvSpPr>
          <p:cNvPr id="7" name="Text 4"/>
          <p:cNvSpPr/>
          <p:nvPr/>
        </p:nvSpPr>
        <p:spPr>
          <a:xfrm>
            <a:off x="246888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PROJET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423160" y="29260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 problème, la vision, la solution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2487168" y="4160520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670048" y="4160520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852928" y="4160520"/>
            <a:ext cx="118872" cy="118872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612E55-BC85-0BC5-8611-643BBB1CF0BA}"/>
              </a:ext>
            </a:extLst>
          </p:cNvPr>
          <p:cNvSpPr txBox="1"/>
          <p:nvPr/>
        </p:nvSpPr>
        <p:spPr>
          <a:xfrm>
            <a:off x="11180618" y="241069"/>
            <a:ext cx="673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\</a:t>
            </a:r>
            <a:r>
              <a:rPr lang="en-US" sz="1200" dirty="0">
                <a:solidFill>
                  <a:schemeClr val="bg1"/>
                </a:solidFill>
              </a:rPr>
              <a:t>Luca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GENÈSE DU PROJET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Détourner la dopamine pour apprendre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2084832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C4899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350" y="2282342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0299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friction de l'apprentissage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11680" y="23957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L’apprentissage</a:t>
            </a: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 </a:t>
            </a:r>
            <a:r>
              <a:rPr lang="en-US" sz="125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</a:t>
            </a: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forte charge mentale, incompatible avec le transport et la fatigue.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3291840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05840" y="3547872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350" y="3745382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0" y="34930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doomscrolling gagne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011680" y="3858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TikTok / Instagram exploitent la dopamine : une addiction sans effort qui capte le temps libre.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77240" y="4754880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005840" y="5010912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3350" y="5208422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9560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rupture de flux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011680" y="53218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 dispersées, révision pénible : le passage prise de notes → révision décourage l'usage.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720840" y="1828800"/>
            <a:ext cx="4690872" cy="4251960"/>
          </a:xfrm>
          <a:prstGeom prst="roundRect">
            <a:avLst>
              <a:gd name="adj" fmla="val 2151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214884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35240" y="2148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Notre vision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040880" y="28346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Fraunces" pitchFamily="34" charset="0"/>
                <a:ea typeface="Fraunces" pitchFamily="34" charset="-122"/>
              </a:rPr>
              <a:t>Utiliser</a:t>
            </a:r>
            <a:r>
              <a:rPr lang="en-US" sz="20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</a:rPr>
              <a:t> les techniques des reseaux </a:t>
            </a:r>
            <a:r>
              <a:rPr lang="en-US" sz="2000" b="1" dirty="0" err="1">
                <a:solidFill>
                  <a:srgbClr val="FFFFFF"/>
                </a:solidFill>
                <a:latin typeface="Fraunces" pitchFamily="34" charset="0"/>
                <a:ea typeface="Fraunces" pitchFamily="34" charset="-122"/>
              </a:rPr>
              <a:t>sociaux</a:t>
            </a:r>
            <a:r>
              <a:rPr lang="en-US" sz="20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</a:rPr>
              <a:t> dans le cadre de </a:t>
            </a:r>
            <a:r>
              <a:rPr lang="en-US" sz="2000" b="1" dirty="0" err="1">
                <a:solidFill>
                  <a:srgbClr val="FFFFFF"/>
                </a:solidFill>
                <a:latin typeface="Fraunces" pitchFamily="34" charset="0"/>
                <a:ea typeface="Fraunces" pitchFamily="34" charset="-122"/>
              </a:rPr>
              <a:t>l’education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040880" y="41148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Proposition de valeur unique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base de connaissances personnelle injectée dans des expériences ludiques, via un </a:t>
            </a:r>
            <a:r>
              <a:rPr lang="en-US" sz="130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serveur</a:t>
            </a: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MCP, l'apprentissage vient à l'utilisateur, pas l'inverse.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040880" y="5532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Cible v1.0 : Oct. 2026  ·  Modèle B2C / B2B</a:t>
            </a:r>
            <a:endParaRPr lang="en-US" sz="1200" dirty="0"/>
          </a:p>
        </p:txBody>
      </p:sp>
      <p:pic>
        <p:nvPicPr>
          <p:cNvPr id="25" name="Image 4" descr="/home/claude/logo_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635508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9808" y="6327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FlowLearn · T-ESP-800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ACFE40-736C-14D8-B2CD-ADFE350DACFF}"/>
              </a:ext>
            </a:extLst>
          </p:cNvPr>
          <p:cNvSpPr txBox="1"/>
          <p:nvPr/>
        </p:nvSpPr>
        <p:spPr>
          <a:xfrm>
            <a:off x="11155680" y="241069"/>
            <a:ext cx="698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Quentin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 socle commun, des expériences modulaires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73936"/>
            <a:ext cx="10634472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05740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098" y="22439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84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connaissances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920240" y="24505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cours de l'utilisateur, centralisés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982212" y="2012725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507992" y="205740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530" y="224393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76672" y="2084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Serveur MCP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376672" y="24505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Orchestre l'injection du bon contenu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47788" y="2012725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7964424" y="205740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EC4899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0962" y="224393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33104" y="2084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commune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833104" y="24505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Brique réutilisable pour tout plugin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777240" y="3611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plugins branchés sur la brique commune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777240" y="4069080"/>
            <a:ext cx="255117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1005840" y="429768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7016" y="4468856"/>
            <a:ext cx="370881" cy="37088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5093208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Scroll éducatif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005840" y="539496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courtes, interface rapide. Reformulation à l'erreur pour limiter l'overfitting.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474720" y="4069080"/>
            <a:ext cx="255117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703320" y="429768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EC4899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4496" y="4468856"/>
            <a:ext cx="370881" cy="37088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03320" y="5093208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Jeux à enjeux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703320" y="539496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Révision intégrée à un Archero / Vampire Survivors : stress &amp; récompense pour l'ancrage.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172200" y="4069080"/>
            <a:ext cx="255117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400800" y="429768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1976" y="4468856"/>
            <a:ext cx="370881" cy="37088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400800" y="5093208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Formats passifs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400800" y="539496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Histoires interactives et rythmes générés depuis la base de savoir.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869680" y="4069080"/>
            <a:ext cx="255117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9098280" y="429768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9456" y="4468856"/>
            <a:ext cx="370881" cy="370881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098280" y="5093208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Multiplateforme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098280" y="539496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Mobile, desktop, vocal, IoT — extensible par la communauté.</a:t>
            </a:r>
            <a:endParaRPr lang="en-US" sz="1100" dirty="0"/>
          </a:p>
        </p:txBody>
      </p:sp>
      <p:pic>
        <p:nvPicPr>
          <p:cNvPr id="40" name="Image 7" descr="/home/claude/logo_col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6355080"/>
            <a:ext cx="237744" cy="23774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49808" y="6327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FlowLearn · T-ESP-800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0F198E-FDC2-6B2B-3F1E-9B3B1D5C9679}"/>
              </a:ext>
            </a:extLst>
          </p:cNvPr>
          <p:cNvSpPr txBox="1"/>
          <p:nvPr/>
        </p:nvSpPr>
        <p:spPr>
          <a:xfrm>
            <a:off x="11111594" y="241069"/>
            <a:ext cx="742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Quentin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PRODUIT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/>
              <a:t>MVP </a:t>
            </a:r>
            <a:r>
              <a:rPr lang="en-US" sz="3200" dirty="0" err="1"/>
              <a:t>FlowLearn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9300182" y="1828800"/>
            <a:ext cx="2129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MVP sera fonctionnel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300182" y="22860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9910" y="23957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94542" y="2267712"/>
            <a:ext cx="1535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moteurs IA au choix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894542" y="2542032"/>
            <a:ext cx="1535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Claude, GPT-4o, Mistral, Llama, Gemini.</a:t>
            </a:r>
            <a:endParaRPr lang="en-US" sz="1030" dirty="0"/>
          </a:p>
        </p:txBody>
      </p:sp>
      <p:sp>
        <p:nvSpPr>
          <p:cNvPr id="15" name="Shape 10"/>
          <p:cNvSpPr/>
          <p:nvPr/>
        </p:nvSpPr>
        <p:spPr>
          <a:xfrm>
            <a:off x="9300182" y="31546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C4899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9910" y="326440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94542" y="3136392"/>
            <a:ext cx="1535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activités ludiques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9894542" y="3410712"/>
            <a:ext cx="1535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Quiz, histoire, Mode Archero, scroll, SRS, import.</a:t>
            </a:r>
            <a:endParaRPr lang="en-US" sz="1030" dirty="0"/>
          </a:p>
        </p:txBody>
      </p:sp>
      <p:sp>
        <p:nvSpPr>
          <p:cNvPr id="19" name="Shape 13"/>
          <p:cNvSpPr/>
          <p:nvPr/>
        </p:nvSpPr>
        <p:spPr>
          <a:xfrm>
            <a:off x="9300182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9910" y="41330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894542" y="4005072"/>
            <a:ext cx="1535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Gamification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9894542" y="4279392"/>
            <a:ext cx="1535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XP, série de jours, progression visible.</a:t>
            </a:r>
            <a:endParaRPr lang="en-US" sz="1030" dirty="0"/>
          </a:p>
        </p:txBody>
      </p:sp>
      <p:sp>
        <p:nvSpPr>
          <p:cNvPr id="23" name="Shape 16"/>
          <p:cNvSpPr/>
          <p:nvPr/>
        </p:nvSpPr>
        <p:spPr>
          <a:xfrm>
            <a:off x="9300182" y="48920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9910" y="5001768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94542" y="4873752"/>
            <a:ext cx="1535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Maîtrise des données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9894542" y="5148072"/>
            <a:ext cx="1535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 en local : hors-ligne &amp; RGPD.</a:t>
            </a:r>
            <a:endParaRPr lang="en-US" sz="1030" dirty="0"/>
          </a:p>
        </p:txBody>
      </p:sp>
      <p:pic>
        <p:nvPicPr>
          <p:cNvPr id="27" name="Image 6" descr="/home/claude/logo_col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6355080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49808" y="6327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FlowLearn · T-ESP-800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CA1855-5E06-19EF-C489-0F91BDC45B69}"/>
              </a:ext>
            </a:extLst>
          </p:cNvPr>
          <p:cNvSpPr txBox="1"/>
          <p:nvPr/>
        </p:nvSpPr>
        <p:spPr>
          <a:xfrm>
            <a:off x="11180618" y="241069"/>
            <a:ext cx="673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Luca</a:t>
            </a:r>
          </a:p>
        </p:txBody>
      </p:sp>
      <p:pic>
        <p:nvPicPr>
          <p:cNvPr id="32" name="Image 2" descr="/home/claude/logo_color.png">
            <a:extLst>
              <a:ext uri="{FF2B5EF4-FFF2-40B4-BE49-F238E27FC236}">
                <a16:creationId xmlns:a16="http://schemas.microsoft.com/office/drawing/2014/main" id="{DA1FD55B-CF45-0DEB-A86A-E7DE338F51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1366" y="206883"/>
            <a:ext cx="1295908" cy="1295908"/>
          </a:xfrm>
          <a:prstGeom prst="rect">
            <a:avLst/>
          </a:prstGeom>
        </p:spPr>
      </p:pic>
      <p:pic>
        <p:nvPicPr>
          <p:cNvPr id="33" name="Picture 32" descr="laptop_das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2121408"/>
            <a:ext cx="5394960" cy="3376070"/>
          </a:xfrm>
          <a:prstGeom prst="rect">
            <a:avLst/>
          </a:prstGeom>
        </p:spPr>
      </p:pic>
      <p:pic>
        <p:nvPicPr>
          <p:cNvPr id="34" name="Picture 33" descr="phone_land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4768" y="1572768"/>
            <a:ext cx="2102361" cy="405079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0080" y="555955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Inter"/>
              </a:rPr>
              <a:t>Le dashboard — sur navigateur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68756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Inter"/>
              </a:rPr>
              <a:t>La landing — sur mobile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737360"/>
            <a:ext cx="4572000" cy="457200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3474720"/>
            <a:ext cx="4754880" cy="475488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943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640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FlowLearn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8B5C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9600" dirty="0"/>
          </a:p>
        </p:txBody>
      </p:sp>
      <p:sp>
        <p:nvSpPr>
          <p:cNvPr id="7" name="Text 4"/>
          <p:cNvSpPr/>
          <p:nvPr/>
        </p:nvSpPr>
        <p:spPr>
          <a:xfrm>
            <a:off x="246888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ORGANISATION, COMMUNICATION &amp; BUDGET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423160" y="29260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 err="1">
                <a:solidFill>
                  <a:schemeClr val="bg1"/>
                </a:solidFill>
              </a:rPr>
              <a:t>Organisation</a:t>
            </a:r>
            <a:r>
              <a:rPr lang="en-US" sz="4000" dirty="0">
                <a:solidFill>
                  <a:schemeClr val="bg1"/>
                </a:solidFill>
              </a:rPr>
              <a:t> du </a:t>
            </a:r>
            <a:r>
              <a:rPr lang="en-US" sz="4000" dirty="0" err="1">
                <a:solidFill>
                  <a:schemeClr val="bg1"/>
                </a:solidFill>
              </a:rPr>
              <a:t>projet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2487168" y="4160520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670048" y="4160520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852928" y="4160520"/>
            <a:ext cx="118872" cy="118872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13936B-646A-5065-E289-25294F3EF57B}"/>
              </a:ext>
            </a:extLst>
          </p:cNvPr>
          <p:cNvSpPr txBox="1"/>
          <p:nvPr/>
        </p:nvSpPr>
        <p:spPr>
          <a:xfrm>
            <a:off x="11180618" y="241069"/>
            <a:ext cx="673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</a:rPr>
              <a:t>nathan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ORGANIZATIONAL BREAKDOWN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OBS — qui est responsable de quoi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Découpage par rôles fonctionnels (pas par individus) : continuité, polyvalence et référents clairs en cas de blocage.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0" y="192024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80560" y="1920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Luca Vanden-Brande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Porteur de projet · Pilotage / Gouvernance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2148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Niveau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2788920"/>
            <a:ext cx="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83280" y="3200400"/>
            <a:ext cx="53949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3200400"/>
            <a:ext cx="0" cy="2926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78240" y="3200400"/>
            <a:ext cx="0" cy="2926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611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Niveau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57400" y="3493008"/>
            <a:ext cx="3154680" cy="713232"/>
          </a:xfrm>
          <a:prstGeom prst="roundRect">
            <a:avLst>
              <a:gd name="adj" fmla="val 12821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3694176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697480" y="349300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Pôle Développement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Chef : Quentin Dumas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286000" y="4370832"/>
            <a:ext cx="269748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423160" y="43708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Quentin Dumas  </a:t>
            </a: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Dev Jeux / UI-UX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286000" y="4846320"/>
            <a:ext cx="269748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423160" y="484632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Nathan Plessis  </a:t>
            </a: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Dev IA / Big Data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286000" y="5321808"/>
            <a:ext cx="269748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423160" y="532180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Daniel Okpe  </a:t>
            </a: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Dev IA / Big Data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2423160" y="57972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269480" y="3493008"/>
            <a:ext cx="3154680" cy="713232"/>
          </a:xfrm>
          <a:prstGeom prst="roundRect">
            <a:avLst>
              <a:gd name="adj" fmla="val 12821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3694176"/>
            <a:ext cx="310896" cy="310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909560" y="349300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Pôle Cybersécurité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Chef : Maxime Ruault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7498080" y="4370832"/>
            <a:ext cx="269748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7635240" y="43708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Maxime Ruault  </a:t>
            </a: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Cybersécurité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7498080" y="4846320"/>
            <a:ext cx="269748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7635240" y="484632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César Lextraît  </a:t>
            </a: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Dev / Cyber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7269480" y="544068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7452360" y="5440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
</a:t>
            </a: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Verticales : arbitrage &amp; validation (A unique). Horizontales : revue croisée. Cyber = A bloquant avant fusion.</a:t>
            </a:r>
            <a:endParaRPr lang="en-US" sz="1150" dirty="0"/>
          </a:p>
        </p:txBody>
      </p:sp>
      <p:pic>
        <p:nvPicPr>
          <p:cNvPr id="33" name="Image 2" descr="/home/claude/logo_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355080"/>
            <a:ext cx="237744" cy="23774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49808" y="6327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FlowLearn · T-ESP-800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961C11-9986-3F40-7462-0B25BB42EAC7}"/>
              </a:ext>
            </a:extLst>
          </p:cNvPr>
          <p:cNvSpPr txBox="1"/>
          <p:nvPr/>
        </p:nvSpPr>
        <p:spPr>
          <a:xfrm>
            <a:off x="11180618" y="241069"/>
            <a:ext cx="673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nathan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MATRICE RACI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Qui réalise, approuve, consulte, informe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Réalise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80360" y="14173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8036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Approuve (1 seul/activité)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4173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8076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8388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49640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Informé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20240"/>
          <a:ext cx="10634472" cy="4087368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Activité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Porteur de projet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Pôle Développement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Pôle Cybersécurité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Vision produit &amp; cadrage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A·R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Priorisation backlog / WBS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4785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Conception PBS / specs fonctionnelles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4785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Développement des features MVP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4785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Revue sécurité (PR)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A·R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Merge sur main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4785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A✓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Tests automatisés / CI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4785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Documentation technique (GitHub)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4785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Gestion des risques (registre)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4785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Budget &amp; achats outils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Incident sécurité / données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4785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777240" y="598932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 d'or : une seule personne « A » par activité. Le pôle cyber a un A bloquant (✓) sur la sécurité avant fusion ; le porteur garde l'A final sur le produit et le périmètre.</a:t>
            </a:r>
            <a:endParaRPr lang="en-US" sz="1050" dirty="0"/>
          </a:p>
        </p:txBody>
      </p:sp>
      <p:pic>
        <p:nvPicPr>
          <p:cNvPr id="18" name="Image 0" descr="/home/claude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55080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9808" y="6327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FlowLearn · T-ESP-800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5281D7-ACE5-9182-CDA9-73C973FEA648}"/>
              </a:ext>
            </a:extLst>
          </p:cNvPr>
          <p:cNvSpPr txBox="1"/>
          <p:nvPr/>
        </p:nvSpPr>
        <p:spPr>
          <a:xfrm>
            <a:off x="11180618" y="241069"/>
            <a:ext cx="673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nathan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RESSOURCES HUMAINES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Compétences requises &amp; choix de l'équipe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compétences cœur, dérivées du WBS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" y="246888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532888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4688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de projet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005840" y="283464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89864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8346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logicielle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1005840" y="320040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3264408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2004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/ FastAPI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1005840" y="35661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48" y="3630168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35661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/ Frontend &amp; UI-UX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1005840" y="393192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3995928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17320" y="39319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Godot / Jeux vidéo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1005840" y="429768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9848" y="4361688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417320" y="42976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 / CI-CD</a:t>
            </a:r>
            <a:endParaRPr lang="en-US" sz="1250" dirty="0"/>
          </a:p>
        </p:txBody>
      </p:sp>
      <p:sp>
        <p:nvSpPr>
          <p:cNvPr id="24" name="Shape 16"/>
          <p:cNvSpPr/>
          <p:nvPr/>
        </p:nvSpPr>
        <p:spPr>
          <a:xfrm>
            <a:off x="1005840" y="466344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848" y="4727448"/>
            <a:ext cx="182880" cy="1828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417320" y="46634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/ LLM / RAG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1005840" y="502920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9848" y="5093208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417320" y="50292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données</a:t>
            </a:r>
            <a:endParaRPr lang="en-US" sz="1250" dirty="0"/>
          </a:p>
        </p:txBody>
      </p:sp>
      <p:sp>
        <p:nvSpPr>
          <p:cNvPr id="30" name="Shape 20"/>
          <p:cNvSpPr/>
          <p:nvPr/>
        </p:nvSpPr>
        <p:spPr>
          <a:xfrm>
            <a:off x="1005840" y="53949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9848" y="5458968"/>
            <a:ext cx="182880" cy="1828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417320" y="53949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Cybersécurité</a:t>
            </a:r>
            <a:endParaRPr lang="en-US" sz="1250" dirty="0"/>
          </a:p>
        </p:txBody>
      </p:sp>
      <p:sp>
        <p:nvSpPr>
          <p:cNvPr id="33" name="Text 22"/>
          <p:cNvSpPr/>
          <p:nvPr/>
        </p:nvSpPr>
        <p:spPr>
          <a:xfrm>
            <a:off x="1005840" y="5806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Niveaux auto-déclarés, validés en réunion d'équipe et actualisés à chaque phase review.</a:t>
            </a:r>
            <a:endParaRPr lang="en-US" sz="1050" dirty="0"/>
          </a:p>
        </p:txBody>
      </p:sp>
      <p:sp>
        <p:nvSpPr>
          <p:cNvPr id="34" name="Shape 23"/>
          <p:cNvSpPr/>
          <p:nvPr/>
        </p:nvSpPr>
        <p:spPr>
          <a:xfrm>
            <a:off x="6492240" y="1783080"/>
            <a:ext cx="4919472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24"/>
          <p:cNvSpPr/>
          <p:nvPr/>
        </p:nvSpPr>
        <p:spPr>
          <a:xfrm>
            <a:off x="67665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cette équipe ?</a:t>
            </a:r>
            <a:endParaRPr lang="en-US" sz="1500" dirty="0"/>
          </a:p>
        </p:txBody>
      </p:sp>
      <p:sp>
        <p:nvSpPr>
          <p:cNvPr id="36" name="Shape 25"/>
          <p:cNvSpPr/>
          <p:nvPr/>
        </p:nvSpPr>
        <p:spPr>
          <a:xfrm>
            <a:off x="6766560" y="24688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C4899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8234" y="2600554"/>
            <a:ext cx="285293" cy="285293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452360" y="24505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Combler le manque jeu / UI-UX</a:t>
            </a:r>
            <a:endParaRPr lang="en-US" sz="1300" dirty="0"/>
          </a:p>
        </p:txBody>
      </p:sp>
      <p:sp>
        <p:nvSpPr>
          <p:cNvPr id="39" name="Text 27"/>
          <p:cNvSpPr/>
          <p:nvPr/>
        </p:nvSpPr>
        <p:spPr>
          <a:xfrm>
            <a:off x="7452360" y="276148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L'arrivée de Quentin Dumas apporte </a:t>
            </a:r>
            <a:r>
              <a:rPr lang="en-US" sz="108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l'expertise</a:t>
            </a: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jeu video et UI/UX </a:t>
            </a:r>
            <a:r>
              <a:rPr lang="en-US" sz="108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absente</a:t>
            </a: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08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l'équipe</a:t>
            </a: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8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initiale</a:t>
            </a: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80" dirty="0"/>
          </a:p>
        </p:txBody>
      </p:sp>
      <p:sp>
        <p:nvSpPr>
          <p:cNvPr id="40" name="Shape 28"/>
          <p:cNvSpPr/>
          <p:nvPr/>
        </p:nvSpPr>
        <p:spPr>
          <a:xfrm>
            <a:off x="6766560" y="335584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8234" y="3487522"/>
            <a:ext cx="285293" cy="285293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7452360" y="33375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Doubler le cœur IA</a:t>
            </a:r>
            <a:endParaRPr lang="en-US" sz="1300" dirty="0"/>
          </a:p>
        </p:txBody>
      </p:sp>
      <p:sp>
        <p:nvSpPr>
          <p:cNvPr id="43" name="Text 30"/>
          <p:cNvSpPr/>
          <p:nvPr/>
        </p:nvSpPr>
        <p:spPr>
          <a:xfrm>
            <a:off x="7452360" y="364845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Nathan &amp; Daniel renforcent le chemin critique (RAG / LLM / Big Data), le bloc le plus important du MVP.</a:t>
            </a:r>
            <a:endParaRPr lang="en-US" sz="1080" dirty="0"/>
          </a:p>
        </p:txBody>
      </p:sp>
      <p:sp>
        <p:nvSpPr>
          <p:cNvPr id="44" name="Shape 31"/>
          <p:cNvSpPr/>
          <p:nvPr/>
        </p:nvSpPr>
        <p:spPr>
          <a:xfrm>
            <a:off x="6766560" y="4242816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98234" y="4374490"/>
            <a:ext cx="285293" cy="285293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7452360" y="42245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Sécuriser par construction</a:t>
            </a:r>
            <a:endParaRPr lang="en-US" sz="1300" dirty="0"/>
          </a:p>
        </p:txBody>
      </p:sp>
      <p:sp>
        <p:nvSpPr>
          <p:cNvPr id="47" name="Text 33"/>
          <p:cNvSpPr/>
          <p:nvPr/>
        </p:nvSpPr>
        <p:spPr>
          <a:xfrm>
            <a:off x="7452360" y="453542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Maxime &amp; César forment un pôle cyber avec un veto bloquant avant merge : Security by Design dès la PR.</a:t>
            </a:r>
            <a:endParaRPr lang="en-US" sz="1080" dirty="0"/>
          </a:p>
        </p:txBody>
      </p:sp>
      <p:sp>
        <p:nvSpPr>
          <p:cNvPr id="48" name="Shape 34"/>
          <p:cNvSpPr/>
          <p:nvPr/>
        </p:nvSpPr>
        <p:spPr>
          <a:xfrm>
            <a:off x="6766560" y="512978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98234" y="5261458"/>
            <a:ext cx="285293" cy="285293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7452360" y="51114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Complémentarité prouvée</a:t>
            </a:r>
            <a:endParaRPr lang="en-US" sz="1300" dirty="0"/>
          </a:p>
        </p:txBody>
      </p:sp>
      <p:sp>
        <p:nvSpPr>
          <p:cNvPr id="51" name="Text 36"/>
          <p:cNvSpPr/>
          <p:nvPr/>
        </p:nvSpPr>
        <p:spPr>
          <a:xfrm>
            <a:off x="7452360" y="542239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Choix fondés sur des collaborations passées et la couverture des compétences, pas sur les affinités.</a:t>
            </a:r>
            <a:endParaRPr lang="en-US" sz="1080" dirty="0"/>
          </a:p>
        </p:txBody>
      </p:sp>
      <p:pic>
        <p:nvPicPr>
          <p:cNvPr id="52" name="Image 13" descr="/home/claude/logo_colo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6355080"/>
            <a:ext cx="237744" cy="237744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749808" y="6327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FlowLearn · T-ESP-800</a:t>
            </a:r>
            <a:endParaRPr lang="en-US" sz="900" dirty="0"/>
          </a:p>
        </p:txBody>
      </p:sp>
      <p:sp>
        <p:nvSpPr>
          <p:cNvPr id="54" name="Text 38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9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AD43F3-7211-6629-186C-4E50D357C931}"/>
              </a:ext>
            </a:extLst>
          </p:cNvPr>
          <p:cNvSpPr txBox="1"/>
          <p:nvPr/>
        </p:nvSpPr>
        <p:spPr>
          <a:xfrm>
            <a:off x="11119758" y="241069"/>
            <a:ext cx="734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Maxime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MÉTHODOLOGIE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 modèle hybride, justifié par le risque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Deux temps : sécuriser la deadline du MVP, puis maximiser l'expérience selon les retours réels.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0292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— Construction du MVP
</a:t>
            </a:r>
            <a:r>
              <a:rPr lang="en-US" sz="1150" dirty="0">
                <a:solidFill>
                  <a:srgbClr val="DBE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 prédictif (waterfall)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1720" y="29260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Livrer un MVP fonctionnel à date fixe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6393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31720" y="363931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PBS &amp; WBS, périmètre figé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3525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435254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Specs &amp; architecture amont, gates Go/No-Go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3474720"/>
            <a:ext cx="484632" cy="548640"/>
          </a:xfrm>
          <a:prstGeom prst="chevron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82512" y="2011680"/>
            <a:ext cx="50292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82512" y="201168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11112" y="20116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— Évolution &amp; Run
</a:t>
            </a:r>
            <a:r>
              <a:rPr lang="en-US" sz="1150" dirty="0">
                <a:solidFill>
                  <a:srgbClr val="FCE7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 Agile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11112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36992" y="29260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Amélioration continue par les retours utilisateurs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1112" y="36393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36992" y="363931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Backlog &amp; user stories, sprints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11112" y="43525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Backlog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36992" y="435254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PBS / WBS devenu dynamique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5623560"/>
            <a:ext cx="10634472" cy="594360"/>
          </a:xfrm>
          <a:prstGeom prst="roundRect">
            <a:avLst>
              <a:gd name="adj" fmla="val 12308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0120" y="573328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92" y="5825460"/>
            <a:ext cx="199705" cy="19970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63040" y="562356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pivot  </a:t>
            </a:r>
            <a:r>
              <a:rPr lang="en-US" sz="12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s'effectue dès la validation de la Mise en Production (MEP) du MVP et la Phase Review — pas avant.</a:t>
            </a:r>
            <a:endParaRPr lang="en-US" sz="1250" dirty="0"/>
          </a:p>
        </p:txBody>
      </p:sp>
      <p:pic>
        <p:nvPicPr>
          <p:cNvPr id="28" name="Image 1" descr="/home/claude/logo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55080"/>
            <a:ext cx="237744" cy="23774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49808" y="6327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FlowLearn · T-ESP-800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68417D-B820-7288-731B-C7A9E0D450E7}"/>
              </a:ext>
            </a:extLst>
          </p:cNvPr>
          <p:cNvSpPr txBox="1"/>
          <p:nvPr/>
        </p:nvSpPr>
        <p:spPr>
          <a:xfrm>
            <a:off x="11111594" y="241069"/>
            <a:ext cx="742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Quentin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PILOTAGE &amp; 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Outils partagés, tâches assignées, livraisons suivies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345643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96596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45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64792" y="196596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Projects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05840" y="265176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WBS → backlog. Colonnes Backlog → À faire → En cours → Review → Done. Tâches assignées à chaque membre.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79976" y="1737360"/>
            <a:ext cx="345643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08576" y="196596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195" y="21195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196596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Notion → GitHub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08576" y="265176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Notion pour le brouillon, GitHub comme source de vérité des docs validées.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7982712" y="1737360"/>
            <a:ext cx="345643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11312" y="196596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931" y="21195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196596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Gates Go / No-Go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11312" y="265176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gates sur le planning. Aucune phase ne démarre sans la précédente validée.</a:t>
            </a:r>
            <a:endParaRPr lang="en-US" sz="1080" dirty="0"/>
          </a:p>
        </p:txBody>
      </p:sp>
      <p:sp>
        <p:nvSpPr>
          <p:cNvPr id="19" name="Text 14"/>
          <p:cNvSpPr/>
          <p:nvPr/>
        </p:nvSpPr>
        <p:spPr>
          <a:xfrm>
            <a:off x="777240" y="3401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Gantt — 24 mois (Avr 2026 → Mars 2028)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3520440" y="3721608"/>
            <a:ext cx="0" cy="202082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3246120" y="57607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M0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93258" y="3721608"/>
            <a:ext cx="0" cy="202082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218938" y="57607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M6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466076" y="3721608"/>
            <a:ext cx="0" cy="202082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7191756" y="57607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M12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9438894" y="3721608"/>
            <a:ext cx="0" cy="202082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9164574" y="57607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M18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11411712" y="3721608"/>
            <a:ext cx="0" cy="202082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11137392" y="57607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M24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777240" y="3767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Ph.1 — Fondations &amp; MVP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3520440" y="3803904"/>
            <a:ext cx="1972818" cy="310896"/>
          </a:xfrm>
          <a:prstGeom prst="roundRect">
            <a:avLst>
              <a:gd name="adj" fmla="val 1470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777240" y="42611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Ph.2 — Traction &amp; monétisation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5493258" y="4297680"/>
            <a:ext cx="1972818" cy="310896"/>
          </a:xfrm>
          <a:prstGeom prst="roundRect">
            <a:avLst>
              <a:gd name="adj" fmla="val 14706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777240" y="4754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Ph.3 — Scaling &amp; international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7466076" y="4791456"/>
            <a:ext cx="2630424" cy="310896"/>
          </a:xfrm>
          <a:prstGeom prst="roundRect">
            <a:avLst>
              <a:gd name="adj" fmla="val 14706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777240" y="52486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Ph.4 — Consolidation &amp; exit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10096500" y="5285232"/>
            <a:ext cx="1315212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777240" y="6035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Chemin critique : RAG / IA Core (Ph.1)</a:t>
            </a:r>
            <a:endParaRPr lang="en-US" sz="1100" dirty="0"/>
          </a:p>
        </p:txBody>
      </p:sp>
      <p:pic>
        <p:nvPicPr>
          <p:cNvPr id="39" name="Image 3" descr="/home/claude/logo_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355080"/>
            <a:ext cx="237744" cy="237744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49808" y="6327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FlowLearn · T-ESP-800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543922-2990-D35A-8338-D980E0F76EFB}"/>
              </a:ext>
            </a:extLst>
          </p:cNvPr>
          <p:cNvSpPr txBox="1"/>
          <p:nvPr/>
        </p:nvSpPr>
        <p:spPr>
          <a:xfrm>
            <a:off x="11137392" y="241069"/>
            <a:ext cx="716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Quentin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DE COMMUNICATION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 rendre visibles et crédibles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345643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96596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45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64792" y="196596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L'organique d'abord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05840" y="2651760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Discord, blog, contenu et communauté. On construit la crédibilité avant de vendre.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79976" y="1737360"/>
            <a:ext cx="345643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08576" y="196596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C4899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195" y="21195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196596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terrain ensuite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08576" y="2651760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salons EdTech en 24 mois (dont Bett UK) + presse / RP : le cœur du plan.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7982712" y="1737360"/>
            <a:ext cx="345643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11312" y="196596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931" y="21195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196596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digital en appui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11312" y="2651760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TikTok, Meta et un pilote SEA pour accompagner et amplifier.</a:t>
            </a:r>
            <a:endParaRPr lang="en-US" sz="1080" dirty="0"/>
          </a:p>
        </p:txBody>
      </p:sp>
      <p:sp>
        <p:nvSpPr>
          <p:cNvPr id="19" name="Text 14"/>
          <p:cNvSpPr/>
          <p:nvPr/>
        </p:nvSpPr>
        <p:spPr>
          <a:xfrm>
            <a:off x="777240" y="3520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Quatre phases, quatre tempos — 18 k€ au total (5,2 % du budget)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77240" y="3977640"/>
            <a:ext cx="255117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1005840" y="42062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1005840" y="4206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 k€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1005840" y="4818888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· Construire la crédibilité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005840" y="5394960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Avr → Sep 2026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474720" y="3977640"/>
            <a:ext cx="255117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3703320" y="42062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3703320" y="4206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 k€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3703320" y="4818888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 · Aller à la rencontre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3703320" y="5394960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 2026 → Mar 2027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172200" y="3977640"/>
            <a:ext cx="255117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400800" y="42062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400800" y="4206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7 k€</a:t>
            </a:r>
            <a:endParaRPr lang="en-US" sz="1700" dirty="0"/>
          </a:p>
        </p:txBody>
      </p:sp>
      <p:sp>
        <p:nvSpPr>
          <p:cNvPr id="33" name="Text 28"/>
          <p:cNvSpPr/>
          <p:nvPr/>
        </p:nvSpPr>
        <p:spPr>
          <a:xfrm>
            <a:off x="6400800" y="4818888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P3 · Élargir le cercle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6400800" y="5394960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Avr → Nov 2027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8869680" y="3977640"/>
            <a:ext cx="255117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9098280" y="42062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9098280" y="4206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 k€</a:t>
            </a:r>
            <a:endParaRPr lang="en-US" sz="1700" dirty="0"/>
          </a:p>
        </p:txBody>
      </p:sp>
      <p:sp>
        <p:nvSpPr>
          <p:cNvPr id="38" name="Text 33"/>
          <p:cNvSpPr/>
          <p:nvPr/>
        </p:nvSpPr>
        <p:spPr>
          <a:xfrm>
            <a:off x="9098280" y="4818888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P4 · Consolider les acquis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9098280" y="5394960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 2027 → Mar 2028</a:t>
            </a:r>
            <a:endParaRPr lang="en-US" sz="1050" dirty="0"/>
          </a:p>
        </p:txBody>
      </p:sp>
      <p:pic>
        <p:nvPicPr>
          <p:cNvPr id="40" name="Image 3" descr="/home/claude/logo_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355080"/>
            <a:ext cx="237744" cy="237744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749808" y="6327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FlowLearn · T-ESP-800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FD5530-FA61-A248-7038-E94018D8C9FA}"/>
              </a:ext>
            </a:extLst>
          </p:cNvPr>
          <p:cNvSpPr txBox="1"/>
          <p:nvPr/>
        </p:nvSpPr>
        <p:spPr>
          <a:xfrm>
            <a:off x="11180618" y="241069"/>
            <a:ext cx="673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Luca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RESSOURCES &amp; BUDGET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Besoins matériels et coûts estimés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Besoins matériels &amp; coûts (24 mois)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" y="248716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1" y="2607869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24688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VPS mutualisé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0" y="24688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1 200 €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627632" y="27614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Hébergement API + base vectorielle (remote / Epitech).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05840" y="327355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1" y="3394253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27632" y="32552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local (Ollama)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297680" y="32552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0 €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627632" y="35478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Hors-ligne, latence, maîtrise des données — postes existants.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1005840" y="405993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C4899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1" y="4180637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27632" y="40416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outils SaaS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297680" y="40416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10 000 €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627632" y="433425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Cursor, Claude, Notion, GitHub — abonnements mutualisés.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1005840" y="48463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541" y="4967021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27632" y="48280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 (proto IoT)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297680" y="48280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190 €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627632" y="51206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Brique jeu embarquée, quelques unités.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1005840" y="5650992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1005840" y="57424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11 390 € </a:t>
            </a: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24 mois · poste « Outils &amp; hébergement »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035040" y="1783080"/>
            <a:ext cx="5376672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63093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prévisionnel — 24 mois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309360" y="23957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344 k€</a:t>
            </a:r>
            <a:endParaRPr lang="en-US" sz="3600" dirty="0"/>
          </a:p>
        </p:txBody>
      </p:sp>
      <p:sp>
        <p:nvSpPr>
          <p:cNvPr id="31" name="Text 25"/>
          <p:cNvSpPr/>
          <p:nvPr/>
        </p:nvSpPr>
        <p:spPr>
          <a:xfrm>
            <a:off x="6309360" y="292608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sur 24 mois · équipe de 6, calibrée pour 7 au SMIC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309360" y="3255264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658368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Salaires (7 × SMIC + charges)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950976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294 000 €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10698480" y="32004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85 %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309360" y="367588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6583680" y="3621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 &amp; salons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9509760" y="36210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18 000 €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10698480" y="36210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5 %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309360" y="409651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/>
          <p:nvPr/>
        </p:nvSpPr>
        <p:spPr>
          <a:xfrm>
            <a:off x="6583680" y="4041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Provision de sécurité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9509760" y="40416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16 389 €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10698480" y="40416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5 %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6309360" y="451713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6583680" y="4462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Outils &amp; hébergement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9509760" y="4462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11 390 €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10698480" y="44622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3 %</a:t>
            </a:r>
            <a:endParaRPr lang="en-US" sz="1100" dirty="0"/>
          </a:p>
        </p:txBody>
      </p:sp>
      <p:sp>
        <p:nvSpPr>
          <p:cNvPr id="48" name="Shape 42"/>
          <p:cNvSpPr/>
          <p:nvPr/>
        </p:nvSpPr>
        <p:spPr>
          <a:xfrm>
            <a:off x="6309360" y="493776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/>
          <p:nvPr/>
        </p:nvSpPr>
        <p:spPr>
          <a:xfrm>
            <a:off x="6583680" y="4882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Déplacements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9509760" y="488289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4 380 €</a:t>
            </a:r>
            <a:endParaRPr lang="en-US" sz="1200" dirty="0"/>
          </a:p>
        </p:txBody>
      </p:sp>
      <p:sp>
        <p:nvSpPr>
          <p:cNvPr id="51" name="Text 45"/>
          <p:cNvSpPr/>
          <p:nvPr/>
        </p:nvSpPr>
        <p:spPr>
          <a:xfrm>
            <a:off x="10698480" y="488289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1 %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6309360" y="5321808"/>
            <a:ext cx="4937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7"/>
          <p:cNvSpPr/>
          <p:nvPr/>
        </p:nvSpPr>
        <p:spPr>
          <a:xfrm>
            <a:off x="6309360" y="541324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cadrage réaliste — pas un budget de levée de fonds. À 85 % de masse salariale, la valeur produite, c'est du temps humain.</a:t>
            </a:r>
            <a:endParaRPr lang="en-US" sz="1100" dirty="0"/>
          </a:p>
        </p:txBody>
      </p:sp>
      <p:pic>
        <p:nvPicPr>
          <p:cNvPr id="54" name="Image 4" descr="/home/claude/logo_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6355080"/>
            <a:ext cx="237744" cy="237744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749808" y="6327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FlowLearn · T-ESP-800</a:t>
            </a:r>
            <a:endParaRPr lang="en-US" sz="900" dirty="0"/>
          </a:p>
        </p:txBody>
      </p:sp>
      <p:sp>
        <p:nvSpPr>
          <p:cNvPr id="56" name="Text 49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3225D6-EE3C-E92B-FDAD-0D2B8C6AFD70}"/>
              </a:ext>
            </a:extLst>
          </p:cNvPr>
          <p:cNvSpPr txBox="1"/>
          <p:nvPr/>
        </p:nvSpPr>
        <p:spPr>
          <a:xfrm>
            <a:off x="11111594" y="241069"/>
            <a:ext cx="742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Maxime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PILOTAGE DES RISQUES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Approche « zéro surprise 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2551176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05840" y="253288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risques au registre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783080"/>
            <a:ext cx="2551176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03320" y="196596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5C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98 k€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703320" y="253288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contingence financière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2551176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4899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 sem.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0" y="253288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buffer planning / phase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69680" y="1783080"/>
            <a:ext cx="2551176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98280" y="196596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B98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98280" y="253288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propriétaire par risque + KRI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3200400"/>
            <a:ext cx="4572000" cy="2880360"/>
          </a:xfrm>
          <a:prstGeom prst="roundRect">
            <a:avLst>
              <a:gd name="adj" fmla="val 31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Matrice probabilité × impact (5×5)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17320" y="3794760"/>
            <a:ext cx="329184" cy="329184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783080" y="3794760"/>
            <a:ext cx="329184" cy="329184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48840" y="3794760"/>
            <a:ext cx="329184" cy="329184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14600" y="3794760"/>
            <a:ext cx="329184" cy="329184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80360" y="3794760"/>
            <a:ext cx="329184" cy="329184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417320" y="4160520"/>
            <a:ext cx="329184" cy="329184"/>
          </a:xfrm>
          <a:prstGeom prst="rect">
            <a:avLst/>
          </a:prstGeom>
          <a:solidFill>
            <a:srgbClr val="FCD34D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783080" y="4160520"/>
            <a:ext cx="329184" cy="329184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148840" y="4160520"/>
            <a:ext cx="329184" cy="329184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14600" y="4160520"/>
            <a:ext cx="329184" cy="329184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880360" y="4160520"/>
            <a:ext cx="329184" cy="329184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417320" y="4526280"/>
            <a:ext cx="329184" cy="329184"/>
          </a:xfrm>
          <a:prstGeom prst="rect">
            <a:avLst/>
          </a:prstGeom>
          <a:solidFill>
            <a:srgbClr val="FCD34D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783080" y="4526280"/>
            <a:ext cx="329184" cy="329184"/>
          </a:xfrm>
          <a:prstGeom prst="rect">
            <a:avLst/>
          </a:prstGeom>
          <a:solidFill>
            <a:srgbClr val="FCD34D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148840" y="4526280"/>
            <a:ext cx="329184" cy="329184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514600" y="4526280"/>
            <a:ext cx="329184" cy="329184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880360" y="4526280"/>
            <a:ext cx="329184" cy="329184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417320" y="4892040"/>
            <a:ext cx="329184" cy="329184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783080" y="4892040"/>
            <a:ext cx="329184" cy="329184"/>
          </a:xfrm>
          <a:prstGeom prst="rect">
            <a:avLst/>
          </a:prstGeom>
          <a:solidFill>
            <a:srgbClr val="FCD34D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148840" y="4892040"/>
            <a:ext cx="329184" cy="329184"/>
          </a:xfrm>
          <a:prstGeom prst="rect">
            <a:avLst/>
          </a:prstGeom>
          <a:solidFill>
            <a:srgbClr val="FCD34D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514600" y="4892040"/>
            <a:ext cx="329184" cy="329184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880360" y="4892040"/>
            <a:ext cx="329184" cy="329184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417320" y="5257800"/>
            <a:ext cx="329184" cy="329184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783080" y="5257800"/>
            <a:ext cx="329184" cy="329184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148840" y="5257800"/>
            <a:ext cx="329184" cy="329184"/>
          </a:xfrm>
          <a:prstGeom prst="rect">
            <a:avLst/>
          </a:prstGeom>
          <a:solidFill>
            <a:srgbClr val="FCD34D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514600" y="5257800"/>
            <a:ext cx="329184" cy="329184"/>
          </a:xfrm>
          <a:prstGeom prst="rect">
            <a:avLst/>
          </a:prstGeom>
          <a:solidFill>
            <a:srgbClr val="FCD34D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880360" y="5257800"/>
            <a:ext cx="329184" cy="329184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417320" y="5641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→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 rot="16200000">
            <a:off x="914400" y="45720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0" y="3200400"/>
            <a:ext cx="5925312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76072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risques &amp; mitigation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760720" y="3794760"/>
            <a:ext cx="109728" cy="45720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989320" y="37764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Dérive du chemin critique RAG/IA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89320" y="403250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Buffer 2 sem./phase + revue hebdo du chemin critique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5760720" y="4361688"/>
            <a:ext cx="109728" cy="4572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989320" y="4343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Coût / latence des LLM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989320" y="459943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local en repli, budget par appel mesuré et journalisé</a:t>
            </a:r>
            <a:endParaRPr lang="en-US" sz="1080" dirty="0"/>
          </a:p>
        </p:txBody>
      </p:sp>
      <p:sp>
        <p:nvSpPr>
          <p:cNvPr id="53" name="Shape 51"/>
          <p:cNvSpPr/>
          <p:nvPr/>
        </p:nvSpPr>
        <p:spPr>
          <a:xfrm>
            <a:off x="5760720" y="4928616"/>
            <a:ext cx="109728" cy="4572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989320" y="49103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Faille sécurité / données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989320" y="51663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Veto cyber bloquant avant merge, audit RGPD planifié</a:t>
            </a:r>
            <a:endParaRPr lang="en-US" sz="1080" dirty="0"/>
          </a:p>
        </p:txBody>
      </p:sp>
      <p:sp>
        <p:nvSpPr>
          <p:cNvPr id="56" name="Shape 54"/>
          <p:cNvSpPr/>
          <p:nvPr/>
        </p:nvSpPr>
        <p:spPr>
          <a:xfrm>
            <a:off x="5760720" y="5495544"/>
            <a:ext cx="109728" cy="4572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989320" y="54772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Disponibilité équipe étudiante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989320" y="573328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Polyvalence (OBS) + A temporaire désigné en réunion</a:t>
            </a:r>
            <a:endParaRPr lang="en-US" sz="1080" dirty="0"/>
          </a:p>
        </p:txBody>
      </p:sp>
      <p:pic>
        <p:nvPicPr>
          <p:cNvPr id="59" name="Image 0" descr="/home/claude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55080"/>
            <a:ext cx="237744" cy="237744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749808" y="6327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FlowLearn · T-ESP-800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7CDC0A3-9DB1-EEF6-98C4-76849845A093}"/>
              </a:ext>
            </a:extLst>
          </p:cNvPr>
          <p:cNvSpPr txBox="1"/>
          <p:nvPr/>
        </p:nvSpPr>
        <p:spPr>
          <a:xfrm>
            <a:off x="11111594" y="241069"/>
            <a:ext cx="742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Maxime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737360"/>
            <a:ext cx="4572000" cy="45720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3474720"/>
            <a:ext cx="4754880" cy="4754880"/>
          </a:xfrm>
          <a:prstGeom prst="ellipse">
            <a:avLst/>
          </a:prstGeom>
          <a:solidFill>
            <a:srgbClr val="EC4899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943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640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FlowLearn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C4899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9600" dirty="0"/>
          </a:p>
        </p:txBody>
      </p:sp>
      <p:sp>
        <p:nvSpPr>
          <p:cNvPr id="7" name="Text 4"/>
          <p:cNvSpPr/>
          <p:nvPr/>
        </p:nvSpPr>
        <p:spPr>
          <a:xfrm>
            <a:off x="246888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&amp; TECHNIQUE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423160" y="29260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Comment on construit et teste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2487168" y="4160520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670048" y="4160520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852928" y="4160520"/>
            <a:ext cx="118872" cy="118872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E5A6D3-5B00-C35C-8223-1CADAA5C9123}"/>
              </a:ext>
            </a:extLst>
          </p:cNvPr>
          <p:cNvSpPr txBox="1"/>
          <p:nvPr/>
        </p:nvSpPr>
        <p:spPr>
          <a:xfrm>
            <a:off x="11180618" y="241069"/>
            <a:ext cx="673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</a:rPr>
              <a:t>nathan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BREAKDOWN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WBS — décomposition orientée livrables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périmètre total du MVP découpé en 5 lots de travail (WP), hiérarchiques et livrables.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37760" y="1828800"/>
            <a:ext cx="231343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0" y="1828800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FlowLearn MVP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9904" y="2331720"/>
            <a:ext cx="0" cy="2926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56232" y="2624328"/>
            <a:ext cx="892454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56232" y="2624328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788920"/>
            <a:ext cx="2157984" cy="749808"/>
          </a:xfrm>
          <a:prstGeom prst="roundRect">
            <a:avLst>
              <a:gd name="adj" fmla="val 975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28437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90472" y="2825496"/>
            <a:ext cx="1380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Conteneur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multiplateforme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630168"/>
            <a:ext cx="2157984" cy="233172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5256" y="3749040"/>
            <a:ext cx="1920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 Encapsulateurs</a:t>
            </a:r>
            <a:endParaRPr lang="en-US" sz="1050" dirty="0"/>
          </a:p>
          <a:p>
            <a:pPr marL="152400" indent="-1524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(Electron, Capacitor)</a:t>
            </a:r>
            <a:endParaRPr lang="en-US" sz="1050" dirty="0"/>
          </a:p>
          <a:p>
            <a:pPr marL="152400" indent="-1524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&amp; livraison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87368" y="2624328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008376" y="2788920"/>
            <a:ext cx="2157984" cy="749808"/>
          </a:xfrm>
          <a:prstGeom prst="roundRect">
            <a:avLst>
              <a:gd name="adj" fmla="val 9756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18104" y="28437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21608" y="2825496"/>
            <a:ext cx="1380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Jeux &amp;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expériences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008376" y="3630168"/>
            <a:ext cx="2157984" cy="233172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36392" y="3749040"/>
            <a:ext cx="1920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 API RAG → jeux</a:t>
            </a:r>
            <a:endParaRPr lang="en-US" sz="1050" dirty="0"/>
          </a:p>
          <a:p>
            <a:pPr marL="152400" indent="-1524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2.2 API jeux → externe</a:t>
            </a:r>
            <a:endParaRPr lang="en-US" sz="1050" dirty="0"/>
          </a:p>
          <a:p>
            <a:pPr marL="152400" indent="-1524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 Archero / VS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18504" y="2624328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39512" y="2788920"/>
            <a:ext cx="2157984" cy="749808"/>
          </a:xfrm>
          <a:prstGeom prst="roundRect">
            <a:avLst>
              <a:gd name="adj" fmla="val 9756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49240" y="28437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952744" y="2825496"/>
            <a:ext cx="1380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centrale &amp; RAG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239512" y="3630168"/>
            <a:ext cx="2157984" cy="233172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67528" y="3749040"/>
            <a:ext cx="1920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 Serveur FastAPI</a:t>
            </a:r>
            <a:endParaRPr lang="en-US" sz="1050" dirty="0"/>
          </a:p>
          <a:p>
            <a:pPr marL="152400" indent="-1524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 Base pgvector</a:t>
            </a:r>
            <a:endParaRPr lang="en-US" sz="1050" dirty="0"/>
          </a:p>
          <a:p>
            <a:pPr marL="152400" indent="-1524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3.3 Ingestion RAG</a:t>
            </a:r>
            <a:endParaRPr lang="en-US" sz="1050" dirty="0"/>
          </a:p>
          <a:p>
            <a:pPr marL="152400" indent="-1524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3.4 Orchestrateur agents</a:t>
            </a:r>
            <a:endParaRPr lang="en-US" sz="1050" dirty="0"/>
          </a:p>
          <a:p>
            <a:pPr marL="152400" indent="-1524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 Générateurs LLM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549640" y="2624328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470648" y="2788920"/>
            <a:ext cx="2157984" cy="749808"/>
          </a:xfrm>
          <a:prstGeom prst="roundRect">
            <a:avLst>
              <a:gd name="adj" fmla="val 975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80376" y="28437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183880" y="2825496"/>
            <a:ext cx="1380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Algorithmes de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personnalisation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70648" y="3630168"/>
            <a:ext cx="2157984" cy="233172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598664" y="3749040"/>
            <a:ext cx="1920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 Sélection questions (SRS)</a:t>
            </a:r>
            <a:endParaRPr lang="en-US" sz="1050" dirty="0"/>
          </a:p>
          <a:p>
            <a:pPr marL="152400" indent="-1524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 Algorithme de rétention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780776" y="2624328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701784" y="2788920"/>
            <a:ext cx="2157984" cy="749808"/>
          </a:xfrm>
          <a:prstGeom prst="roundRect">
            <a:avLst>
              <a:gd name="adj" fmla="val 975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811512" y="28437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415016" y="2825496"/>
            <a:ext cx="1380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Sécurité &amp;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gouvernance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701784" y="3630168"/>
            <a:ext cx="2157984" cy="233172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829800" y="3749040"/>
            <a:ext cx="1920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5.1 Coffre-fort &amp; RGPD</a:t>
            </a:r>
            <a:endParaRPr lang="en-US" sz="1050" dirty="0"/>
          </a:p>
          <a:p>
            <a:pPr marL="152400" indent="-1524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Accès, secrets, audit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77240" y="5989320"/>
            <a:ext cx="10634472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60120" y="5989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Orientée livrables  </a:t>
            </a: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chaque WP se décompose en sous-tâches traçables, chacune reliée à un fichier WBS détaillé et à sa DoD.</a:t>
            </a:r>
            <a:endParaRPr lang="en-US" sz="1200" dirty="0"/>
          </a:p>
        </p:txBody>
      </p:sp>
      <p:pic>
        <p:nvPicPr>
          <p:cNvPr id="41" name="Image 0" descr="/home/claude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55080"/>
            <a:ext cx="237744" cy="23774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749808" y="6327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FlowLearn · T-ESP-800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D0C0D1-7DEE-A78D-1B22-506CF64E761C}"/>
              </a:ext>
            </a:extLst>
          </p:cNvPr>
          <p:cNvSpPr txBox="1"/>
          <p:nvPr/>
        </p:nvSpPr>
        <p:spPr>
          <a:xfrm>
            <a:off x="11180618" y="241069"/>
            <a:ext cx="673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nathan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 PÉRIMÈTRE À L'IMPLÉMENTATION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Features, exigences &amp; traçabilité PBS → WBS → DoD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chaîne de traçabilité unique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" y="251460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848" y="267260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10512" y="2496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PBS — produit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10512" y="282549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Quel produit ? » Décomposition des blocs et features attendues.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88720" y="31912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05840" y="368503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848" y="3843040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10512" y="36667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WBS — travail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810512" y="399592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Quel travail ? » Sous-tâches livrables pour chaque feature.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88720" y="43616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1005840" y="4855464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848" y="50134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10512" y="48371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DoD — fini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810512" y="51663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Quand c'est fini ? » Critères d'acceptation par feature.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035040" y="1783080"/>
            <a:ext cx="5376672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035040" y="1783080"/>
            <a:ext cx="5376672" cy="64008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6263640" y="1783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— Feature 3.5.2 · Générateur de quiz QCM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26364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Exigence fonctionnelle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263640" y="2834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partir d'un cours ingéré (RAG), produire un QCM valide, structuré et contextualisé par l'utilisateur.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26364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 of Done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355080" y="37947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Schéma Pydantic respecté (question, 4 choix, réponse, justification)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Sortie testée sur 3 cours réels + cas d'erreur LLM gérés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Latence et coût par appel mesurés et journalisés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unitaires + intégration RAG verts en CI</a:t>
            </a:r>
            <a:endParaRPr lang="en-US" sz="1200" dirty="0"/>
          </a:p>
        </p:txBody>
      </p:sp>
      <p:pic>
        <p:nvPicPr>
          <p:cNvPr id="27" name="Image 3" descr="/home/claude/logo_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355080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9808" y="6327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FlowLearn · T-ESP-800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661D4C-D29C-FBE0-9227-30228164B382}"/>
              </a:ext>
            </a:extLst>
          </p:cNvPr>
          <p:cNvSpPr txBox="1"/>
          <p:nvPr/>
        </p:nvSpPr>
        <p:spPr>
          <a:xfrm>
            <a:off x="11180618" y="241069"/>
            <a:ext cx="673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nathan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CHOIX TECHNOLOGIQUES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Une stack pour répondre ET tester les attentes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2670048" cy="3794760"/>
          </a:xfrm>
          <a:prstGeom prst="roundRect">
            <a:avLst>
              <a:gd name="adj" fmla="val 34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2670048" cy="777240"/>
          </a:xfrm>
          <a:prstGeom prst="roundRect">
            <a:avLst>
              <a:gd name="adj" fmla="val 11765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83794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0744" y="1600200"/>
            <a:ext cx="198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&amp; conteneurs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78408" y="2560320"/>
            <a:ext cx="230428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(1 base de code)</a:t>
            </a:r>
            <a:endParaRPr lang="en-US" sz="11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— Desktop</a:t>
            </a:r>
            <a:endParaRPr lang="en-US" sz="11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Capacitor — Mobile</a:t>
            </a:r>
            <a:endParaRPr lang="en-US" sz="11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Godot — Jeux (Wasm)</a:t>
            </a:r>
            <a:endParaRPr lang="en-US" sz="11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 — IoT (Rust)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371850" y="31089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566160" y="1600200"/>
            <a:ext cx="2670048" cy="3794760"/>
          </a:xfrm>
          <a:prstGeom prst="roundRect">
            <a:avLst>
              <a:gd name="adj" fmla="val 34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66160" y="1600200"/>
            <a:ext cx="2670048" cy="777240"/>
          </a:xfrm>
          <a:prstGeom prst="roundRect">
            <a:avLst>
              <a:gd name="adj" fmla="val 11765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183794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9664" y="1600200"/>
            <a:ext cx="198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&amp; API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767328" y="2560320"/>
            <a:ext cx="230428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(Python)</a:t>
            </a:r>
            <a:endParaRPr lang="en-US" sz="11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Endpoints ingestion / RAG</a:t>
            </a:r>
            <a:endParaRPr lang="en-US" sz="11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Endpoints quiz</a:t>
            </a:r>
            <a:endParaRPr lang="en-US" sz="11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Contrats JSON jeu ↔ API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153912" y="30403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355080" y="1600200"/>
            <a:ext cx="2670048" cy="3794760"/>
          </a:xfrm>
          <a:prstGeom prst="roundRect">
            <a:avLst>
              <a:gd name="adj" fmla="val 34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355080" y="1600200"/>
            <a:ext cx="2670048" cy="777240"/>
          </a:xfrm>
          <a:prstGeom prst="roundRect">
            <a:avLst>
              <a:gd name="adj" fmla="val 11765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1837944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58584" y="1600200"/>
            <a:ext cx="198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 artificielle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556248" y="2560320"/>
            <a:ext cx="230428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LiteLLM — gateway LLM</a:t>
            </a:r>
            <a:endParaRPr lang="en-US" sz="11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PydanticAI — orchestration</a:t>
            </a:r>
            <a:endParaRPr lang="en-US" sz="11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LlamaIndex — RAG</a:t>
            </a:r>
            <a:endParaRPr lang="en-US" sz="11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 — flux complexes</a:t>
            </a:r>
            <a:endParaRPr lang="en-US" sz="11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Ollama local / cloud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915400" y="30403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144000" y="1600200"/>
            <a:ext cx="2670048" cy="3794760"/>
          </a:xfrm>
          <a:prstGeom prst="roundRect">
            <a:avLst>
              <a:gd name="adj" fmla="val 34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144000" y="1600200"/>
            <a:ext cx="2670048" cy="777240"/>
          </a:xfrm>
          <a:prstGeom prst="roundRect">
            <a:avLst>
              <a:gd name="adj" fmla="val 11765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168" y="1837944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747504" y="1600200"/>
            <a:ext cx="198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Données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345168" y="2560320"/>
            <a:ext cx="230428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+ pgvector</a:t>
            </a:r>
            <a:endParaRPr lang="en-US" sz="11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(cloud)</a:t>
            </a:r>
            <a:endParaRPr lang="en-US" sz="115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(local / offline)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77240" y="5577840"/>
            <a:ext cx="10634472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960120" y="55778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Testabilité intégrée  </a:t>
            </a: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chaque attente fonctionnelle a sa contrepartie de test : RAG validé sur cours réels, contrats JSON vérifiés, LLM local pour le hors-ligne et la maîtrise des données.</a:t>
            </a:r>
            <a:endParaRPr lang="en-US" sz="1200" dirty="0"/>
          </a:p>
        </p:txBody>
      </p:sp>
      <p:pic>
        <p:nvPicPr>
          <p:cNvPr id="29" name="Image 4" descr="/home/claude/logo_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6355080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9808" y="6327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FlowLearn · T-ESP-800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9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D24117-E811-DC15-1B92-98AB00D965E4}"/>
              </a:ext>
            </a:extLst>
          </p:cNvPr>
          <p:cNvSpPr txBox="1"/>
          <p:nvPr/>
        </p:nvSpPr>
        <p:spPr>
          <a:xfrm>
            <a:off x="11111594" y="241069"/>
            <a:ext cx="742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Quentin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QUALITÉ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Méthode, tests &amp; bonnes pratiques documentés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 est écrit dans le plan qualité pour faciliter l'onboarding et garantir un niveau de livraison constant.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2112264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295144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2219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&amp; Git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51560" y="28346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protégée, branches feature/ &amp; fix/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Conventional Commits (feat, fix, docs…)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Secrets hors dépôt (env / GitHub Secrets)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9632" y="196596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40968" y="2081893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2247791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51192" y="22219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&amp; déploiement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473952" y="28346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Unitaires + intégration (API, RAG) à chaque PR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 avant chaque gate / démo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Déploiement continu via GitHub Actions : build → release taggée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7240" y="397764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92124" y="4123944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C4899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716" y="4283964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2336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Sécurité &amp; revues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051560" y="48463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relecteur minimum par PR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Revue sécurité OWASP bloquante avant merge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verte obligatoire (GitHub Actions)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99632" y="397764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40968" y="4142232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4283964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51192" y="42336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Définition de « Done »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6473952" y="48463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 ticket Done sans DoD validée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 = contexte + critères + responsable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 mise à jour si API / comportement change</a:t>
            </a:r>
            <a:endParaRPr lang="en-US" sz="1150" dirty="0"/>
          </a:p>
        </p:txBody>
      </p:sp>
      <p:pic>
        <p:nvPicPr>
          <p:cNvPr id="25" name="Image 4" descr="/home/claude/logo_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635508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9808" y="6327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FlowLearn · T-ESP-800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4552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208F1A-8789-5900-24AF-4B1CD7AFE1E9}"/>
              </a:ext>
            </a:extLst>
          </p:cNvPr>
          <p:cNvSpPr txBox="1"/>
          <p:nvPr/>
        </p:nvSpPr>
        <p:spPr>
          <a:xfrm>
            <a:off x="11180618" y="241069"/>
            <a:ext cx="673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Luca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91840"/>
            <a:ext cx="4572000" cy="4572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777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7240" y="1554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 MVP cadré, prêt à exécuter.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777240" y="2697480"/>
            <a:ext cx="3456432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05840" y="292608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070" y="3075310"/>
            <a:ext cx="323332" cy="3233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361188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WBS &amp; OBS livrés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05840" y="390448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Décomposition orientée livrables + responsabilités claires, en diagrammes.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4379976" y="2697480"/>
            <a:ext cx="3456432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608576" y="292608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806" y="3075310"/>
            <a:ext cx="323332" cy="3233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08576" y="361188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Qualité &amp; méthode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608576" y="390448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qualité, modèle hybride et pilotage outillé partagés par toute l'équipe.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7982712" y="2697480"/>
            <a:ext cx="3456432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8211312" y="292608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EC4899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0542" y="3075310"/>
            <a:ext cx="323332" cy="3233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11312" y="361188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maîtrisée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211312" y="390448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IA modulaire, testable, avec budget et risques cadrés.</a:t>
            </a:r>
            <a:endParaRPr lang="en-US" sz="1080" dirty="0"/>
          </a:p>
        </p:txBody>
      </p:sp>
      <p:sp>
        <p:nvSpPr>
          <p:cNvPr id="22" name="Text 16"/>
          <p:cNvSpPr/>
          <p:nvPr/>
        </p:nvSpPr>
        <p:spPr>
          <a:xfrm>
            <a:off x="77724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Prochaines étapes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68680" y="5074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Lancer la Phase 1 : infra, CI/CD et chemin critique RAG/IA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Atteindre la v1.0 du MVP pour Oct. 2026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Valider le marché et préparer le pivot Agile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22960" y="6355080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005840" y="6355080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1188720" y="6355080"/>
            <a:ext cx="118872" cy="118872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1417320" y="62453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Merci — des questions ?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8531352" y="62453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FlowLearn · T-ESP-800</a:t>
            </a:r>
            <a:endParaRPr 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641573-955C-D395-53E7-2B5CFD600839}"/>
              </a:ext>
            </a:extLst>
          </p:cNvPr>
          <p:cNvSpPr txBox="1"/>
          <p:nvPr/>
        </p:nvSpPr>
        <p:spPr>
          <a:xfrm>
            <a:off x="11180618" y="241069"/>
            <a:ext cx="673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Luca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2199</Words>
  <Application>Microsoft Office PowerPoint</Application>
  <PresentationFormat>Grand écran</PresentationFormat>
  <Paragraphs>468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Fraunces</vt:lpstr>
      <vt:lpstr>Arial</vt:lpstr>
      <vt:lpstr>Inter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FlowLearn — Gestion de projet T-ESP-800</dc:title>
  <dc:subject>PptxGenJS Presentation</dc:subject>
  <dc:creator>Équipe FlowLearn</dc:creator>
  <cp:lastModifiedBy>nathan plessis</cp:lastModifiedBy>
  <cp:revision>5</cp:revision>
  <dcterms:created xsi:type="dcterms:W3CDTF">2026-06-28T07:19:30Z</dcterms:created>
  <dcterms:modified xsi:type="dcterms:W3CDTF">2026-06-29T08:42:35Z</dcterms:modified>
</cp:coreProperties>
</file>